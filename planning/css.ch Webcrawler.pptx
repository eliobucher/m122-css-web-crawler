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006" autoAdjust="0"/>
    <p:restoredTop sz="94660"/>
  </p:normalViewPr>
  <p:slideViewPr>
    <p:cSldViewPr snapToGrid="0">
      <p:cViewPr>
        <p:scale>
          <a:sx n="83" d="100"/>
          <a:sy n="83" d="100"/>
        </p:scale>
        <p:origin x="390" y="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E556C27-1847-0613-C5AB-F3433AA65C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9FF2B5F0-2AB9-D2C5-3DAF-442BD4B1A8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E7147F73-4E1A-1E19-38AA-0E9A59A0CF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D177C-19DD-41C9-A48D-094522B769F7}" type="datetimeFigureOut">
              <a:rPr lang="de-CH" smtClean="0"/>
              <a:t>11.06.2026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614EA50-5707-D0D4-506E-44D96441C6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A39641EA-4EC2-6D9C-B626-4DFECB5FF8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61C4A-8948-47C4-8120-15117E8DF5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242279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20C805-7848-4072-7D9A-5ED001A56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4ECB2FE-FBAE-079C-5EDB-D8850486BA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71F1FB9-C02D-6531-B220-33582DD2E3A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D177C-19DD-41C9-A48D-094522B769F7}" type="datetimeFigureOut">
              <a:rPr lang="de-CH" smtClean="0"/>
              <a:t>11.06.2026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6F45590-A361-0E2F-BC9F-89A1048992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E8A848E6-079F-B3CE-B6E9-0D7F74CD8F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61C4A-8948-47C4-8120-15117E8DF5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5736456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54DCB91-3E76-5806-9994-33B2B47A38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B5AA4EF1-BF52-C991-E2CF-AE47BF58AB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BDEAC27-1823-7E04-5EA9-46696546EE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D177C-19DD-41C9-A48D-094522B769F7}" type="datetimeFigureOut">
              <a:rPr lang="de-CH" smtClean="0"/>
              <a:t>11.06.2026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CB3E35EE-A020-C0E8-A82A-13F079A332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29623E0-0787-E6FD-74EF-B22A51DBBC2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61C4A-8948-47C4-8120-15117E8DF5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193044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498E134-797B-D6A6-8FB3-37F5F89811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EDE2805-C7D5-9662-5984-B46AF3CBCEF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6FA0824A-6A42-C9E8-4376-FA0FCE645BD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9A08C584-A64F-84BB-A856-394059F151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D177C-19DD-41C9-A48D-094522B769F7}" type="datetimeFigureOut">
              <a:rPr lang="de-CH" smtClean="0"/>
              <a:t>11.06.2026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5E60669-CF99-5C09-D68D-A3E253F587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FB2054C-448A-66CB-09C8-753EB055AB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61C4A-8948-47C4-8120-15117E8DF5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3040576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823F573-C4F2-9281-0F6E-6C977DD6A0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FFD910F-E412-649E-C6F9-45EA19E002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B9B34BD3-1060-7FD3-769F-9F2789E29D0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889E2145-8F77-58AF-1422-0A76F5584D2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567567FE-4B76-455D-698C-D53E2F06647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3265BA2E-99C8-1176-0DDE-A6AB267E6D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D177C-19DD-41C9-A48D-094522B769F7}" type="datetimeFigureOut">
              <a:rPr lang="de-CH" smtClean="0"/>
              <a:t>11.06.2026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E2934E3B-77F7-0177-F2DA-66CDD28ACA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036A1167-A3D6-B520-50D4-2D4C611CE4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61C4A-8948-47C4-8120-15117E8DF5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2007059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0B800C-11CF-3AAD-CFEF-A6DE366F5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B4924FB2-343C-9019-B698-F2967F3D56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D177C-19DD-41C9-A48D-094522B769F7}" type="datetimeFigureOut">
              <a:rPr lang="de-CH" smtClean="0"/>
              <a:t>11.06.2026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04D0790E-2732-F168-93B0-C415256046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281169C0-33C2-7CF7-CEF2-229BEFF8B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61C4A-8948-47C4-8120-15117E8DF5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60563958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22317AF-6D2E-0C31-4B60-F9F17A18AB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D177C-19DD-41C9-A48D-094522B769F7}" type="datetimeFigureOut">
              <a:rPr lang="de-CH" smtClean="0"/>
              <a:t>11.06.2026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3915436E-1BFC-7EF5-FA9F-4D200A3445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1A7D170-1AD2-3145-214C-9A25DF32572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61C4A-8948-47C4-8120-15117E8DF5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5621860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01A7D9D-F308-FDF8-0B62-DF507B9928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119CF41-1574-A5F7-D5C2-BFC9CE22E36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59F03146-B992-7A38-4F97-620D5C3389F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394CC8A9-910F-E6F6-864F-080BE080BB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D177C-19DD-41C9-A48D-094522B769F7}" type="datetimeFigureOut">
              <a:rPr lang="de-CH" smtClean="0"/>
              <a:t>11.06.2026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32B2E15B-6810-BEB6-6350-087C0BEA50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8BDC6F5-15C2-1CF1-0BF3-19C61C6599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61C4A-8948-47C4-8120-15117E8DF5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6551707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09B27C-06DB-E67E-A01A-443AA9256F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3BF6FAF-E14B-86F1-EC21-67E024D08C4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617D017A-7961-A05D-B86D-7E1EF12D469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D0465BCE-7C78-4982-4605-8ECBC27AFD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D177C-19DD-41C9-A48D-094522B769F7}" type="datetimeFigureOut">
              <a:rPr lang="de-CH" smtClean="0"/>
              <a:t>11.06.2026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1555B639-3B66-7D9C-3FC3-B9AB5B8D0C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667A1D0-B94C-C9D2-26B2-D87970F42E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61C4A-8948-47C4-8120-15117E8DF5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409603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CCDC4CF-223D-686A-4636-ED60427795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5D16DE9-8327-E48A-E071-92C59B670E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E6A87C1-98F3-CC5D-9DA7-FC85741979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D177C-19DD-41C9-A48D-094522B769F7}" type="datetimeFigureOut">
              <a:rPr lang="de-CH" smtClean="0"/>
              <a:t>11.06.2026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AA71ED2A-E6C6-E2C9-FC4C-6B918CCC0C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166608DF-7558-E9CF-856A-1D5C14CD92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61C4A-8948-47C4-8120-15117E8DF5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2988841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4C8B5087-CD59-99D1-2349-A024D685704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93358C43-F3C3-BE25-C88A-AECD1BFCDE7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C1546579-F1A7-50E8-946E-C83D5A02E9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B3D177C-19DD-41C9-A48D-094522B769F7}" type="datetimeFigureOut">
              <a:rPr lang="de-CH" smtClean="0"/>
              <a:t>11.06.2026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B07EA9E1-5B95-9B81-B55F-480FFE6C8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C5B67D12-FE75-3C36-CEAA-ED8E11014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B361C4A-8948-47C4-8120-15117E8DF5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3990756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45C9436-EB3F-1EB6-D84C-CF9BA5DDD4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EF750022-8227-7FB9-3327-8CF23F6659B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4F6B9C28-B076-0682-01C3-623B2F7D959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B3D177C-19DD-41C9-A48D-094522B769F7}" type="datetimeFigureOut">
              <a:rPr lang="de-CH" smtClean="0"/>
              <a:t>11.06.2026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245F64E-AF34-271C-2940-8F187100F3F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F123A74B-BA66-4C8B-CBA8-76B3DD2F796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B361C4A-8948-47C4-8120-15117E8DF501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1723520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F1363EA-9451-2245-38E4-60BF8C71B9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600089" y="2507411"/>
            <a:ext cx="6993148" cy="1094627"/>
          </a:xfrm>
        </p:spPr>
        <p:txBody>
          <a:bodyPr>
            <a:normAutofit/>
          </a:bodyPr>
          <a:lstStyle/>
          <a:p>
            <a:r>
              <a:rPr lang="de-DE" sz="7200" noProof="1">
                <a:latin typeface="Aptos Black" panose="020B0004020202020204" pitchFamily="34" charset="0"/>
              </a:rPr>
              <a:t>.ch Webcrawler</a:t>
            </a:r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DC3D810-BE96-B42E-E541-F02E5334D01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de-DE" noProof="1">
                <a:latin typeface="Aptos Black" panose="020B0004020202020204" pitchFamily="34" charset="0"/>
              </a:rPr>
              <a:t>Elio Bucher</a:t>
            </a:r>
            <a:br>
              <a:rPr lang="de-DE" noProof="1">
                <a:latin typeface="Aptos Black" panose="020B0004020202020204" pitchFamily="34" charset="0"/>
              </a:rPr>
            </a:br>
            <a:r>
              <a:rPr lang="de-DE" noProof="1">
                <a:latin typeface="Aptos Black" panose="020B0004020202020204" pitchFamily="34" charset="0"/>
              </a:rPr>
              <a:t>BBZW</a:t>
            </a:r>
            <a:br>
              <a:rPr lang="de-DE" noProof="1">
                <a:latin typeface="Aptos Black" panose="020B0004020202020204" pitchFamily="34" charset="0"/>
              </a:rPr>
            </a:br>
            <a:r>
              <a:rPr lang="de-DE" noProof="1">
                <a:latin typeface="Aptos Black" panose="020B0004020202020204" pitchFamily="34" charset="0"/>
              </a:rPr>
              <a:t>M122</a:t>
            </a:r>
          </a:p>
        </p:txBody>
      </p:sp>
      <p:pic>
        <p:nvPicPr>
          <p:cNvPr id="1026" name="Picture 2" descr="CSS (Versicherung) – Wikipedia">
            <a:extLst>
              <a:ext uri="{FF2B5EF4-FFF2-40B4-BE49-F238E27FC236}">
                <a16:creationId xmlns:a16="http://schemas.microsoft.com/office/drawing/2014/main" id="{1DB66172-92CE-5915-91AF-9FB34DEE33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15063" y="2648568"/>
            <a:ext cx="1692896" cy="7221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hteck 4">
            <a:extLst>
              <a:ext uri="{FF2B5EF4-FFF2-40B4-BE49-F238E27FC236}">
                <a16:creationId xmlns:a16="http://schemas.microsoft.com/office/drawing/2014/main" id="{756237AF-51E2-0727-1715-10C1683BABDD}"/>
              </a:ext>
            </a:extLst>
          </p:cNvPr>
          <p:cNvSpPr/>
          <p:nvPr/>
        </p:nvSpPr>
        <p:spPr>
          <a:xfrm>
            <a:off x="8488392" y="0"/>
            <a:ext cx="3703608" cy="247865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595174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EA5B63-9A2D-BB7C-27E8-F5BDBE815F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200" noProof="1">
                <a:latin typeface="Aptos Black" panose="020B0004020202020204" pitchFamily="34" charset="0"/>
              </a:rPr>
              <a:t>Projektbeschrieb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0AC2FB1-4C8B-5560-CA68-414DCAC12AF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e-DE" sz="2600" noProof="1">
                <a:latin typeface="Aptos Black" panose="020B0004020202020204" pitchFamily="34" charset="0"/>
              </a:rPr>
              <a:t>Bash-Skript, das css.ch automatisch crawlt </a:t>
            </a:r>
            <a:br>
              <a:rPr lang="de-DE" sz="2600" noProof="1">
                <a:latin typeface="Aptos Black" panose="020B0004020202020204" pitchFamily="34" charset="0"/>
              </a:rPr>
            </a:br>
            <a:r>
              <a:rPr lang="de-DE" sz="2600" noProof="1">
                <a:latin typeface="Aptos Black" panose="020B0004020202020204" pitchFamily="34" charset="0"/>
              </a:rPr>
              <a:t>und alle gefundenen Links erfasst</a:t>
            </a:r>
          </a:p>
          <a:p>
            <a:r>
              <a:rPr lang="de-DE" sz="2600" noProof="1">
                <a:latin typeface="Aptos Black" panose="020B0004020202020204" pitchFamily="34" charset="0"/>
              </a:rPr>
              <a:t>Ergebnisse speichern</a:t>
            </a:r>
          </a:p>
          <a:p>
            <a:r>
              <a:rPr lang="de-DE" sz="2600" noProof="1">
                <a:latin typeface="Aptos Black" panose="020B0004020202020204" pitchFamily="34" charset="0"/>
              </a:rPr>
              <a:t>Doppelerfassung/Endlosschleifen erkennen und verhindern</a:t>
            </a:r>
          </a:p>
          <a:p>
            <a:r>
              <a:rPr lang="de-DE" sz="2600" noProof="1">
                <a:latin typeface="Aptos Black" panose="020B0004020202020204" pitchFamily="34" charset="0"/>
              </a:rPr>
              <a:t>Anzahl zu crawlende Seiten frei einstellbar</a:t>
            </a:r>
          </a:p>
          <a:p>
            <a:r>
              <a:rPr lang="de-DE" sz="2600" noProof="1">
                <a:latin typeface="Aptos Black" panose="020B0004020202020204" pitchFamily="34" charset="0"/>
              </a:rPr>
              <a:t>Dateitypen können vom Crawl ausgeschlossen werden</a:t>
            </a:r>
          </a:p>
        </p:txBody>
      </p:sp>
      <p:sp>
        <p:nvSpPr>
          <p:cNvPr id="4" name="Rechteck 3">
            <a:extLst>
              <a:ext uri="{FF2B5EF4-FFF2-40B4-BE49-F238E27FC236}">
                <a16:creationId xmlns:a16="http://schemas.microsoft.com/office/drawing/2014/main" id="{2B5BF01B-E7E0-9C36-8A5F-CDC575E1460B}"/>
              </a:ext>
            </a:extLst>
          </p:cNvPr>
          <p:cNvSpPr/>
          <p:nvPr/>
        </p:nvSpPr>
        <p:spPr>
          <a:xfrm>
            <a:off x="8488392" y="0"/>
            <a:ext cx="3703608" cy="247865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6336882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8F92FBA-608E-F858-EB83-AFFEDDC0B2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200" noProof="1">
                <a:latin typeface="Aptos Black" panose="020B0004020202020204" pitchFamily="34" charset="0"/>
              </a:rPr>
              <a:t>Sinn und Zweck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271A556-8A2A-5550-1D0C-F9EFC2F2DBB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de-DE" noProof="1">
                <a:latin typeface="Aptos Black" panose="020B0004020202020204" pitchFamily="34" charset="0"/>
              </a:rPr>
              <a:t>Css.ch ist eine grosse Website</a:t>
            </a:r>
          </a:p>
          <a:p>
            <a:r>
              <a:rPr lang="de-DE" noProof="1">
                <a:latin typeface="Aptos Black" panose="020B0004020202020204" pitchFamily="34" charset="0"/>
              </a:rPr>
              <a:t>Ohne Automatisierung:</a:t>
            </a:r>
          </a:p>
          <a:p>
            <a:pPr lvl="1"/>
            <a:r>
              <a:rPr lang="de-DE" noProof="1">
                <a:latin typeface="Aptos Black" panose="020B0004020202020204" pitchFamily="34" charset="0"/>
              </a:rPr>
              <a:t>Welche Seiten existieren?</a:t>
            </a:r>
          </a:p>
          <a:p>
            <a:pPr lvl="1"/>
            <a:r>
              <a:rPr lang="de-DE" noProof="1">
                <a:latin typeface="Aptos Black" panose="020B0004020202020204" pitchFamily="34" charset="0"/>
              </a:rPr>
              <a:t>Hat sich etwas geändert?</a:t>
            </a:r>
          </a:p>
          <a:p>
            <a:pPr lvl="1"/>
            <a:r>
              <a:rPr lang="de-DE" noProof="1">
                <a:latin typeface="Aptos Black" panose="020B0004020202020204" pitchFamily="34" charset="0"/>
              </a:rPr>
              <a:t>Wurden Seiten hinzugefügt oder entfernt?</a:t>
            </a:r>
          </a:p>
          <a:p>
            <a:r>
              <a:rPr lang="de-DE" noProof="1">
                <a:latin typeface="Aptos Black" panose="020B0004020202020204" pitchFamily="34" charset="0"/>
              </a:rPr>
              <a:t>Lösung:</a:t>
            </a:r>
          </a:p>
          <a:p>
            <a:pPr lvl="1"/>
            <a:r>
              <a:rPr lang="de-DE" noProof="1">
                <a:latin typeface="Aptos Black" panose="020B0004020202020204" pitchFamily="34" charset="0"/>
              </a:rPr>
              <a:t>Alle URLs automatisch erfassen</a:t>
            </a:r>
          </a:p>
          <a:p>
            <a:pPr lvl="1"/>
            <a:r>
              <a:rPr lang="de-DE" noProof="1">
                <a:latin typeface="Aptos Black" panose="020B0004020202020204" pitchFamily="34" charset="0"/>
              </a:rPr>
              <a:t>SHA-256 Hashes speichern, geänderte Seiten erkennen</a:t>
            </a:r>
          </a:p>
          <a:p>
            <a:pPr lvl="1"/>
            <a:r>
              <a:rPr lang="de-DE" noProof="1">
                <a:latin typeface="Aptos Black" panose="020B0004020202020204" pitchFamily="34" charset="0"/>
              </a:rPr>
              <a:t>Kein manueller Aufwand</a:t>
            </a:r>
          </a:p>
          <a:p>
            <a:r>
              <a:rPr lang="de-DE" noProof="1">
                <a:latin typeface="Aptos Black" panose="020B0004020202020204" pitchFamily="34" charset="0"/>
              </a:rPr>
              <a:t>Ziel:</a:t>
            </a:r>
          </a:p>
          <a:p>
            <a:pPr lvl="1"/>
            <a:r>
              <a:rPr lang="de-DE" noProof="1">
                <a:latin typeface="Aptos Black" panose="020B0004020202020204" pitchFamily="34" charset="0"/>
              </a:rPr>
              <a:t>Auftraggeber soll jederzeit wissen, was auf css.ch existiert und was sich verändert hat</a:t>
            </a: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C3157218-CEA8-4D85-6283-5A72BFE0FEA1}"/>
              </a:ext>
            </a:extLst>
          </p:cNvPr>
          <p:cNvSpPr/>
          <p:nvPr/>
        </p:nvSpPr>
        <p:spPr>
          <a:xfrm>
            <a:off x="8488392" y="0"/>
            <a:ext cx="3703608" cy="247865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9358147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C28531-261A-B74C-C420-4CC94DBAE2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200" noProof="1">
                <a:latin typeface="Aptos Black" panose="020B0004020202020204" pitchFamily="34" charset="0"/>
              </a:rPr>
              <a:t>Flowchart zeigen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7DCDAA2D-B55C-5AC3-0B47-90F4D5AB45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noProof="1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9D105243-93F4-A1FC-823E-5A1758FF9A13}"/>
              </a:ext>
            </a:extLst>
          </p:cNvPr>
          <p:cNvSpPr/>
          <p:nvPr/>
        </p:nvSpPr>
        <p:spPr>
          <a:xfrm>
            <a:off x="8488392" y="0"/>
            <a:ext cx="3703608" cy="247865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2941899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FFD31FF-ECFC-5BF9-3BAE-181B724B9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200" noProof="1">
                <a:latin typeface="Aptos Black" panose="020B0004020202020204" pitchFamily="34" charset="0"/>
              </a:rPr>
              <a:t>Relevante Code-Stellen</a:t>
            </a:r>
          </a:p>
        </p:txBody>
      </p:sp>
      <p:sp>
        <p:nvSpPr>
          <p:cNvPr id="8" name="Rechteck 7">
            <a:extLst>
              <a:ext uri="{FF2B5EF4-FFF2-40B4-BE49-F238E27FC236}">
                <a16:creationId xmlns:a16="http://schemas.microsoft.com/office/drawing/2014/main" id="{C520D6F4-F679-FEAD-7F5D-934E947EF488}"/>
              </a:ext>
            </a:extLst>
          </p:cNvPr>
          <p:cNvSpPr/>
          <p:nvPr/>
        </p:nvSpPr>
        <p:spPr>
          <a:xfrm>
            <a:off x="8488392" y="0"/>
            <a:ext cx="3703608" cy="247865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12187624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93B147-3274-34D3-EBE5-FE4B803BD0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200" noProof="1">
                <a:latin typeface="Aptos Black" panose="020B0004020202020204" pitchFamily="34" charset="0"/>
              </a:rPr>
              <a:t>Doppel- und Loop-Erkennung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F295F60-7B0A-9CA5-6916-204260694D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62332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de-DE" noProof="1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is_valid_url(){</a:t>
            </a:r>
            <a:r>
              <a:rPr lang="de-DE" noProof="1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de-DE" noProof="1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is_visited "$url"</a:t>
            </a:r>
            <a:r>
              <a:rPr lang="de-DE" noProof="1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de-DE" noProof="1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&amp;&amp; return 1</a:t>
            </a:r>
            <a:r>
              <a:rPr lang="de-DE" noProof="1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de-DE" noProof="1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[[ "$host" == *".$DOMAIN" ]] || return 1
  return 0
}</a:t>
            </a:r>
            <a:endParaRPr lang="de-DE" noProof="1"/>
          </a:p>
          <a:p>
            <a:pPr marL="0" indent="0">
              <a:buNone/>
            </a:pPr>
            <a:endParaRPr lang="de-DE" noProof="1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E9E6E82D-48B5-A57B-3C01-42B3D48673D0}"/>
              </a:ext>
            </a:extLst>
          </p:cNvPr>
          <p:cNvSpPr/>
          <p:nvPr/>
        </p:nvSpPr>
        <p:spPr>
          <a:xfrm>
            <a:off x="8488392" y="0"/>
            <a:ext cx="3703608" cy="247865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19609521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991CB8-11FC-8BE0-97EA-BFBE6F1A09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4200" noProof="1">
                <a:latin typeface="Aptos Black" panose="020B0004020202020204" pitchFamily="34" charset="0"/>
              </a:rPr>
              <a:t>Änderungserkennung</a:t>
            </a:r>
            <a:r>
              <a:rPr lang="de-DE" noProof="1">
                <a:latin typeface="Aptos Black" panose="020B0004020202020204" pitchFamily="34" charset="0"/>
              </a:rPr>
              <a:t> (Hash)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F685CBE-0941-4C20-8E46-D967007ECC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e-DE" noProof="1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get_page_hash() {
  echo "$1" | </a:t>
            </a:r>
            <a:r>
              <a:rPr lang="de-DE" noProof="1">
                <a:solidFill>
                  <a:srgbClr val="39C5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sha256sum</a:t>
            </a:r>
            <a:r>
              <a:rPr lang="de-DE" noProof="1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de-DE" noProof="1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\
    | awk '{print $1}'
}</a:t>
            </a:r>
            <a:endParaRPr lang="de-DE" noProof="1"/>
          </a:p>
          <a:p>
            <a:pPr marL="0" indent="0">
              <a:buNone/>
            </a:pPr>
            <a:endParaRPr lang="de-DE" noProof="1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3D71B40-6BC8-0365-FD44-8DDBF6C3CABD}"/>
              </a:ext>
            </a:extLst>
          </p:cNvPr>
          <p:cNvSpPr/>
          <p:nvPr/>
        </p:nvSpPr>
        <p:spPr>
          <a:xfrm>
            <a:off x="8488392" y="0"/>
            <a:ext cx="3703608" cy="247865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2033363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9503C8-289B-6F50-89B7-25F6C6D969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sz="4200" noProof="1">
                <a:latin typeface="Aptos Black" panose="020B0004020202020204" pitchFamily="34" charset="0"/>
              </a:rPr>
              <a:t>Crawl-Schleife</a:t>
            </a:r>
            <a:r>
              <a:rPr lang="de-DE" noProof="1">
                <a:latin typeface="Aptos Black" panose="020B0004020202020204" pitchFamily="34" charset="0"/>
              </a:rPr>
              <a:t> (gekürzt)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1AA9467-661D-1E54-A70A-B05D81B14D0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de-DE" noProof="1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while</a:t>
            </a:r>
            <a:r>
              <a:rPr lang="de-DE" noProof="1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de-DE" noProof="1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[[ $page_count -lt $max ]]; </a:t>
            </a:r>
            <a:r>
              <a:rPr lang="de-DE" noProof="1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
</a:t>
            </a:r>
            <a:r>
              <a:rPr lang="de-DE" noProof="1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</a:t>
            </a:r>
            <a:r>
              <a:rPr lang="de-DE" noProof="1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url=$(</a:t>
            </a:r>
            <a:r>
              <a:rPr lang="de-DE" noProof="1">
                <a:solidFill>
                  <a:srgbClr val="39C5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sed</a:t>
            </a:r>
            <a:r>
              <a:rPr lang="de-DE" noProof="1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de-DE" noProof="1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-n "${pos}p" $QUEUE)</a:t>
            </a:r>
            <a:r>
              <a:rPr lang="de-DE" noProof="1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de-DE" noProof="1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is_valid_url</a:t>
            </a:r>
            <a:r>
              <a:rPr lang="de-DE" noProof="1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de-DE" noProof="1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"$url" || </a:t>
            </a:r>
            <a:r>
              <a:rPr lang="de-DE" noProof="1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continue
</a:t>
            </a:r>
            <a:r>
              <a:rPr lang="de-DE" noProof="1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de-DE" noProof="1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mark_visited</a:t>
            </a:r>
            <a:r>
              <a:rPr lang="de-DE" noProof="1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de-DE" noProof="1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"$url"
  html=$(</a:t>
            </a:r>
            <a:r>
              <a:rPr lang="de-DE" noProof="1">
                <a:solidFill>
                  <a:srgbClr val="39C5C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</a:t>
            </a:r>
            <a:r>
              <a:rPr lang="de-DE" noProof="1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de-DE" noProof="1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-sL "$url")</a:t>
            </a:r>
            <a:r>
              <a:rPr lang="de-DE" noProof="1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  </a:t>
            </a:r>
            <a:r>
              <a:rPr lang="de-DE" noProof="1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hash=$(</a:t>
            </a:r>
            <a:r>
              <a:rPr lang="de-DE" noProof="1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get_page_hash</a:t>
            </a:r>
            <a:r>
              <a:rPr lang="de-DE" noProof="1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de-DE" noProof="1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"$html")</a:t>
            </a:r>
            <a:r>
              <a:rPr lang="de-DE" noProof="1">
                <a:solidFill>
                  <a:srgbClr val="8B949E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de-DE" noProof="1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
</a:t>
            </a:r>
            <a:r>
              <a:rPr lang="de-DE" noProof="1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extract_links</a:t>
            </a:r>
            <a:r>
              <a:rPr lang="de-DE" noProof="1">
                <a:solidFill>
                  <a:srgbClr val="E6EDF3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r>
              <a:rPr lang="de-DE" noProof="1"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"$url" "$html" \
    | </a:t>
            </a:r>
            <a:r>
              <a:rPr lang="de-DE" noProof="1">
                <a:solidFill>
                  <a:srgbClr val="3FB95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add_to_queue
done</a:t>
            </a:r>
            <a:endParaRPr lang="de-DE" noProof="1"/>
          </a:p>
          <a:p>
            <a:pPr marL="0" indent="0">
              <a:buNone/>
            </a:pPr>
            <a:endParaRPr lang="de-DE" noProof="1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FFDD6DE-8384-BFFF-2ECA-81E6003E5ECF}"/>
              </a:ext>
            </a:extLst>
          </p:cNvPr>
          <p:cNvSpPr/>
          <p:nvPr/>
        </p:nvSpPr>
        <p:spPr>
          <a:xfrm>
            <a:off x="8488392" y="0"/>
            <a:ext cx="3703608" cy="247865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334206931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B0DC9F4-38EA-91CC-46BF-9094A647548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7906" y="388129"/>
            <a:ext cx="10515600" cy="1325563"/>
          </a:xfrm>
        </p:spPr>
        <p:txBody>
          <a:bodyPr>
            <a:normAutofit/>
          </a:bodyPr>
          <a:lstStyle/>
          <a:p>
            <a:r>
              <a:rPr lang="de-DE" sz="4200" noProof="1">
                <a:latin typeface="Aptos Black" panose="020B0004020202020204" pitchFamily="34" charset="0"/>
              </a:rPr>
              <a:t>Testumgebung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4B4DD72-E8CC-B10E-95E5-6F1A995E13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7906" y="1894637"/>
            <a:ext cx="10515600" cy="4351338"/>
          </a:xfrm>
        </p:spPr>
        <p:txBody>
          <a:bodyPr/>
          <a:lstStyle/>
          <a:p>
            <a:r>
              <a:rPr lang="de-DE" sz="2600" noProof="1">
                <a:latin typeface="Aptos Black" panose="020B0004020202020204" pitchFamily="34" charset="0"/>
              </a:rPr>
              <a:t>Lokale Test-Website</a:t>
            </a:r>
          </a:p>
          <a:p>
            <a:pPr lvl="1"/>
            <a:r>
              <a:rPr lang="de-DE" sz="2200" noProof="1">
                <a:latin typeface="Aptos Black" panose="020B0004020202020204" pitchFamily="34" charset="0"/>
              </a:rPr>
              <a:t>Kontrollierte Umgebung, um jede Funktion zu prüfen</a:t>
            </a:r>
          </a:p>
          <a:p>
            <a:pPr lvl="2"/>
            <a:r>
              <a:rPr lang="de-DE" noProof="1">
                <a:latin typeface="Aptos Black" panose="020B0004020202020204" pitchFamily="34" charset="0"/>
              </a:rPr>
              <a:t>index, about, products, contacts</a:t>
            </a:r>
          </a:p>
          <a:p>
            <a:pPr lvl="3"/>
            <a:r>
              <a:rPr lang="de-DE" noProof="1">
                <a:latin typeface="Aptos Black" panose="020B0004020202020204" pitchFamily="34" charset="0"/>
              </a:rPr>
              <a:t>Normale, verlinkte Seiten</a:t>
            </a:r>
          </a:p>
          <a:p>
            <a:pPr lvl="2"/>
            <a:r>
              <a:rPr lang="de-DE" noProof="1">
                <a:latin typeface="Aptos Black" panose="020B0004020202020204" pitchFamily="34" charset="0"/>
              </a:rPr>
              <a:t>loop_a </a:t>
            </a:r>
            <a:r>
              <a:rPr lang="de-DE" b="1" noProof="1">
                <a:latin typeface="Aptos Black" panose="020B0004020202020204" pitchFamily="34" charset="0"/>
                <a:ea typeface="Courier New" pitchFamily="34" charset="-122"/>
                <a:cs typeface="Courier New" pitchFamily="34" charset="-120"/>
              </a:rPr>
              <a:t>⇄ </a:t>
            </a:r>
            <a:r>
              <a:rPr lang="de-DE" noProof="1">
                <a:latin typeface="Aptos Black" panose="020B0004020202020204" pitchFamily="34" charset="0"/>
                <a:ea typeface="Courier New" pitchFamily="34" charset="-122"/>
                <a:cs typeface="Courier New" pitchFamily="34" charset="-120"/>
              </a:rPr>
              <a:t>loop_b</a:t>
            </a:r>
          </a:p>
          <a:p>
            <a:pPr lvl="3"/>
            <a:r>
              <a:rPr lang="de-DE" noProof="1">
                <a:latin typeface="Aptos Black" panose="020B0004020202020204" pitchFamily="34" charset="0"/>
                <a:cs typeface="Courier New" pitchFamily="34" charset="-120"/>
              </a:rPr>
              <a:t>Testen den Endlosschleifen-Schutz</a:t>
            </a:r>
          </a:p>
          <a:p>
            <a:pPr lvl="2"/>
            <a:r>
              <a:rPr lang="de-DE" noProof="1">
                <a:latin typeface="Aptos Black" panose="020B0004020202020204" pitchFamily="34" charset="0"/>
                <a:cs typeface="Courier New" pitchFamily="34" charset="-120"/>
              </a:rPr>
              <a:t>change_page</a:t>
            </a:r>
          </a:p>
          <a:p>
            <a:pPr lvl="3"/>
            <a:r>
              <a:rPr lang="de-DE" noProof="1">
                <a:latin typeface="Aptos Black" panose="020B0004020202020204" pitchFamily="34" charset="0"/>
                <a:cs typeface="Courier New" pitchFamily="34" charset="-120"/>
              </a:rPr>
              <a:t>Inhalt ändern: Hash-Vergleich</a:t>
            </a:r>
            <a:endParaRPr lang="de-DE" noProof="1">
              <a:latin typeface="Aptos Black" panose="020B0004020202020204" pitchFamily="34" charset="0"/>
            </a:endParaRPr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46D311B6-0429-E68C-A75A-FD1838A710D2}"/>
              </a:ext>
            </a:extLst>
          </p:cNvPr>
          <p:cNvSpPr/>
          <p:nvPr/>
        </p:nvSpPr>
        <p:spPr>
          <a:xfrm>
            <a:off x="8488392" y="0"/>
            <a:ext cx="3703608" cy="247865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268651056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B6BF27-A267-682A-5B0A-6E460D521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1">
                <a:latin typeface="Aptos Black" panose="020B0004020202020204" pitchFamily="34" charset="0"/>
              </a:rPr>
              <a:t>Live Demo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9FA3F15-0963-79E5-9664-62B9C2A6A7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de-DE" noProof="1"/>
          </a:p>
        </p:txBody>
      </p:sp>
      <p:sp>
        <p:nvSpPr>
          <p:cNvPr id="7" name="Rechteck 6">
            <a:extLst>
              <a:ext uri="{FF2B5EF4-FFF2-40B4-BE49-F238E27FC236}">
                <a16:creationId xmlns:a16="http://schemas.microsoft.com/office/drawing/2014/main" id="{00D91003-C658-2E0F-C674-8989B9796F31}"/>
              </a:ext>
            </a:extLst>
          </p:cNvPr>
          <p:cNvSpPr/>
          <p:nvPr/>
        </p:nvSpPr>
        <p:spPr>
          <a:xfrm>
            <a:off x="8488392" y="0"/>
            <a:ext cx="3703608" cy="2478657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dirty="0"/>
          </a:p>
        </p:txBody>
      </p:sp>
    </p:spTree>
    <p:extLst>
      <p:ext uri="{BB962C8B-B14F-4D97-AF65-F5344CB8AC3E}">
        <p14:creationId xmlns:p14="http://schemas.microsoft.com/office/powerpoint/2010/main" val="5410330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319</Words>
  <Application>Microsoft Office PowerPoint</Application>
  <PresentationFormat>Breitbild</PresentationFormat>
  <Paragraphs>38</Paragraphs>
  <Slides>10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10</vt:i4>
      </vt:variant>
    </vt:vector>
  </HeadingPairs>
  <TitlesOfParts>
    <vt:vector size="16" baseType="lpstr">
      <vt:lpstr>Aptos</vt:lpstr>
      <vt:lpstr>Aptos Black</vt:lpstr>
      <vt:lpstr>Aptos Display</vt:lpstr>
      <vt:lpstr>Arial</vt:lpstr>
      <vt:lpstr>Courier New</vt:lpstr>
      <vt:lpstr>Office</vt:lpstr>
      <vt:lpstr>.ch Webcrawler</vt:lpstr>
      <vt:lpstr>Projektbeschrieb</vt:lpstr>
      <vt:lpstr>Sinn und Zweck</vt:lpstr>
      <vt:lpstr>Flowchart zeigen</vt:lpstr>
      <vt:lpstr>Relevante Code-Stellen</vt:lpstr>
      <vt:lpstr>Doppel- und Loop-Erkennung</vt:lpstr>
      <vt:lpstr>Änderungserkennung (Hash)</vt:lpstr>
      <vt:lpstr>Crawl-Schleife (gekürzt)</vt:lpstr>
      <vt:lpstr>Testumgebung</vt:lpstr>
      <vt:lpstr>Live Demo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BBZW;Bucher Elio</dc:creator>
  <cp:lastModifiedBy>BBZW; Bucher Elio</cp:lastModifiedBy>
  <cp:revision>3</cp:revision>
  <dcterms:created xsi:type="dcterms:W3CDTF">2026-06-01T08:22:48Z</dcterms:created>
  <dcterms:modified xsi:type="dcterms:W3CDTF">2026-06-11T09:29:07Z</dcterms:modified>
</cp:coreProperties>
</file>